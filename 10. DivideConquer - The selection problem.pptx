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8"/>
  </p:notesMasterIdLst>
  <p:sldIdLst>
    <p:sldId id="295" r:id="rId2"/>
    <p:sldId id="311" r:id="rId3"/>
    <p:sldId id="296" r:id="rId4"/>
    <p:sldId id="313" r:id="rId5"/>
    <p:sldId id="297" r:id="rId6"/>
    <p:sldId id="312" r:id="rId7"/>
  </p:sldIdLst>
  <p:sldSz cx="9144000" cy="6858000" type="screen4x3"/>
  <p:notesSz cx="6708775" cy="9774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4653" autoAdjust="0"/>
    <p:restoredTop sz="90700" autoAdjust="0"/>
  </p:normalViewPr>
  <p:slideViewPr>
    <p:cSldViewPr>
      <p:cViewPr varScale="1">
        <p:scale>
          <a:sx n="73" d="100"/>
          <a:sy n="73" d="100"/>
        </p:scale>
        <p:origin x="108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067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0475" y="0"/>
            <a:ext cx="29067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75026-CD26-4DEE-A762-288A9FD5749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733425"/>
            <a:ext cx="4886325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1513" y="4643438"/>
            <a:ext cx="5365750" cy="439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700"/>
            <a:ext cx="29067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0475" y="9283700"/>
            <a:ext cx="29067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A0B3D-A596-45E7-B1B5-C24A0188A0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take the left most as partition,</a:t>
            </a:r>
            <a:r>
              <a:rPr lang="en-US" baseline="0" dirty="0"/>
              <a:t> then the best case is to have the left most as the element (</a:t>
            </a:r>
            <a:r>
              <a:rPr lang="en-US" baseline="0" dirty="0" err="1"/>
              <a:t>i</a:t>
            </a:r>
            <a:r>
              <a:rPr lang="en-US" baseline="0" dirty="0"/>
              <a:t>) we are looking for, then time is O(n)</a:t>
            </a:r>
          </a:p>
          <a:p>
            <a:r>
              <a:rPr lang="en-US" baseline="0" dirty="0"/>
              <a:t>The worst case is to have them in ascending order, and search for the nth element, then time is T(n)=T(n-1)+</a:t>
            </a:r>
            <a:r>
              <a:rPr lang="en-US" baseline="0" dirty="0" err="1"/>
              <a:t>cn</a:t>
            </a:r>
            <a:r>
              <a:rPr lang="en-US" baseline="0" dirty="0"/>
              <a:t>  and it is O(n^2)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BA0B3D-A596-45E7-B1B5-C24A0188A08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A01B4EF2-931C-482F-9E32-AEE4C7933CD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865B4-313A-40DE-81CD-E5841FB55AD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8A8192A-ACBF-46DB-8C48-FFA5EC78B98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8CDFA4C-09CB-467F-AFE6-C68B50DDF06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48E15CC-EF55-497A-A8A7-32C8DD8F1ED9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E0E3F03-EA92-48FD-8877-39B9DDA1AD57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3664A-0C1C-4D9D-B4BB-1B95CCF55FC3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3809855-7C0C-4D55-8138-0616A87E251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D8360902-B48C-466A-B96F-FABC260FEB4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28F76-C3CC-4FF3-88A1-556141B289B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90992-43CA-4B74-A126-2A3F3525365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B076584-36F0-4126-A474-40B8E1FE4A6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2" r:id="rId2"/>
    <p:sldLayoutId id="2147483757" r:id="rId3"/>
    <p:sldLayoutId id="2147483758" r:id="rId4"/>
    <p:sldLayoutId id="2147483759" r:id="rId5"/>
    <p:sldLayoutId id="2147483760" r:id="rId6"/>
    <p:sldLayoutId id="2147483753" r:id="rId7"/>
    <p:sldLayoutId id="2147483761" r:id="rId8"/>
    <p:sldLayoutId id="2147483762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 build="p"/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>
                <a:latin typeface="Arial" charset="0"/>
              </a:rPr>
              <a:t>Given an array of numbers </a:t>
            </a:r>
            <a:r>
              <a:rPr lang="en-US" b="1">
                <a:latin typeface="Arial" charset="0"/>
              </a:rPr>
              <a:t>A[n]</a:t>
            </a:r>
            <a:r>
              <a:rPr lang="en-US">
                <a:latin typeface="Arial" charset="0"/>
              </a:rPr>
              <a:t> and an integer </a:t>
            </a:r>
            <a:r>
              <a:rPr lang="en-US" b="1">
                <a:latin typeface="Arial" charset="0"/>
              </a:rPr>
              <a:t>i</a:t>
            </a:r>
            <a:r>
              <a:rPr lang="en-US">
                <a:latin typeface="Arial" charset="0"/>
              </a:rPr>
              <a:t>,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b="1">
                <a:latin typeface="Arial" charset="0"/>
              </a:rPr>
              <a:t>1</a:t>
            </a:r>
            <a:r>
              <a:rPr lang="en-US">
                <a:latin typeface="Arial" charset="0"/>
              </a:rPr>
              <a:t> ≤ </a:t>
            </a:r>
            <a:r>
              <a:rPr lang="en-US" b="1">
                <a:latin typeface="Arial" charset="0"/>
              </a:rPr>
              <a:t>i</a:t>
            </a:r>
            <a:r>
              <a:rPr lang="en-US">
                <a:latin typeface="Arial" charset="0"/>
              </a:rPr>
              <a:t> ≤ </a:t>
            </a:r>
            <a:r>
              <a:rPr lang="en-US" b="1">
                <a:latin typeface="Arial" charset="0"/>
              </a:rPr>
              <a:t>n</a:t>
            </a:r>
            <a:r>
              <a:rPr lang="en-US">
                <a:latin typeface="Arial" charset="0"/>
              </a:rPr>
              <a:t>, find the </a:t>
            </a:r>
            <a:r>
              <a:rPr lang="en-US" b="1">
                <a:latin typeface="Arial" charset="0"/>
              </a:rPr>
              <a:t>i</a:t>
            </a:r>
            <a:r>
              <a:rPr lang="en-US" b="1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smallest element.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>
                <a:latin typeface="Arial" charset="0"/>
              </a:rPr>
              <a:t>When </a:t>
            </a:r>
            <a:r>
              <a:rPr lang="en-US" b="1">
                <a:latin typeface="Arial" charset="0"/>
              </a:rPr>
              <a:t>i = n/2</a:t>
            </a:r>
            <a:r>
              <a:rPr lang="en-US">
                <a:latin typeface="Arial" charset="0"/>
              </a:rPr>
              <a:t>, this is called the median problem.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>
              <a:latin typeface="Arial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b="1">
                <a:latin typeface="Arial" charset="0"/>
              </a:rPr>
              <a:t>Example: </a:t>
            </a:r>
            <a:r>
              <a:rPr lang="en-US">
                <a:latin typeface="Arial" charset="0"/>
              </a:rPr>
              <a:t>Given A =[1; 8; 23; 10; 19; 33; 100] the 4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smallest element is 19.</a:t>
            </a: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latin typeface="Arial" charset="0"/>
              </a:rPr>
              <a:t>The Selection Problem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3886200"/>
          </a:xfrm>
        </p:spPr>
        <p:txBody>
          <a:bodyPr/>
          <a:lstStyle/>
          <a:p>
            <a:pPr eaLnBrk="1" hangingPunct="1"/>
            <a:r>
              <a:rPr lang="en-US" sz="2600">
                <a:latin typeface="Arial" charset="0"/>
              </a:rPr>
              <a:t>Sort the elements in ascending order with any algorithm of complexity O(n log n). Then return the i</a:t>
            </a:r>
            <a:r>
              <a:rPr lang="en-US" sz="2600" baseline="30000">
                <a:latin typeface="Arial" charset="0"/>
              </a:rPr>
              <a:t>th</a:t>
            </a:r>
            <a:r>
              <a:rPr lang="en-US" sz="2600">
                <a:latin typeface="Arial" charset="0"/>
              </a:rPr>
              <a:t> element.</a:t>
            </a:r>
          </a:p>
          <a:p>
            <a:pPr eaLnBrk="1" hangingPunct="1"/>
            <a:r>
              <a:rPr lang="en-US" sz="2600">
                <a:latin typeface="Arial" charset="0"/>
              </a:rPr>
              <a:t>Can we do better?</a:t>
            </a:r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latin typeface="Arial" charset="0"/>
              </a:rPr>
              <a:t>The Selection Problem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500" b="1" dirty="0">
                <a:latin typeface="Arial" charset="0"/>
              </a:rPr>
              <a:t>Recall of Partition (</a:t>
            </a:r>
            <a:r>
              <a:rPr lang="en-US" sz="2500" dirty="0">
                <a:latin typeface="Arial" charset="0"/>
              </a:rPr>
              <a:t>A, L, R</a:t>
            </a:r>
            <a:r>
              <a:rPr lang="en-US" sz="2500" b="1" dirty="0">
                <a:latin typeface="Arial" charset="0"/>
              </a:rPr>
              <a:t>)</a:t>
            </a:r>
            <a:endParaRPr lang="en-US" sz="2500" dirty="0">
              <a:latin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dirty="0">
                <a:latin typeface="Arial" charset="0"/>
              </a:rPr>
              <a:t>	1) After Partition (A, L, R) ends, we know location </a:t>
            </a:r>
            <a:r>
              <a:rPr lang="en-US" sz="2500" b="1" dirty="0">
                <a:latin typeface="Arial" charset="0"/>
              </a:rPr>
              <a:t>k</a:t>
            </a:r>
            <a:r>
              <a:rPr lang="en-US" sz="2500" dirty="0">
                <a:latin typeface="Arial" charset="0"/>
              </a:rPr>
              <a:t> of the pivot </a:t>
            </a:r>
            <a:r>
              <a:rPr lang="en-US" sz="2500" b="1" dirty="0">
                <a:latin typeface="Arial" charset="0"/>
              </a:rPr>
              <a:t>p</a:t>
            </a:r>
            <a:r>
              <a:rPr lang="en-US" sz="2500" dirty="0">
                <a:latin typeface="Arial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500" dirty="0">
                <a:latin typeface="Arial" charset="0"/>
              </a:rPr>
              <a:t>     This tells us how many items are larger than </a:t>
            </a:r>
            <a:r>
              <a:rPr lang="en-US" sz="2500" b="1" dirty="0">
                <a:latin typeface="Arial" charset="0"/>
              </a:rPr>
              <a:t>p</a:t>
            </a:r>
            <a:r>
              <a:rPr lang="en-US" sz="2500" dirty="0">
                <a:latin typeface="Arial" charset="0"/>
              </a:rPr>
              <a:t> and how many are smaller than </a:t>
            </a:r>
            <a:r>
              <a:rPr lang="en-US" sz="2500" b="1" dirty="0">
                <a:latin typeface="Arial" charset="0"/>
              </a:rPr>
              <a:t>p</a:t>
            </a:r>
            <a:r>
              <a:rPr lang="en-US" sz="2500" dirty="0">
                <a:latin typeface="Arial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Given </a:t>
            </a:r>
            <a:r>
              <a:rPr lang="en-US" sz="2500" b="1" dirty="0" err="1">
                <a:latin typeface="Arial" charset="0"/>
              </a:rPr>
              <a:t>i</a:t>
            </a:r>
            <a:r>
              <a:rPr lang="en-US" sz="2500" dirty="0">
                <a:latin typeface="Arial" charset="0"/>
              </a:rPr>
              <a:t>, we notice three cases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>
                <a:latin typeface="Arial" charset="0"/>
              </a:rPr>
              <a:t>Case 1: 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dirty="0">
                <a:latin typeface="Arial" charset="0"/>
              </a:rPr>
              <a:t> = k, pivot is the solution.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>
                <a:latin typeface="Arial" charset="0"/>
              </a:rPr>
              <a:t>Case 2: 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dirty="0">
                <a:latin typeface="Arial" charset="0"/>
              </a:rPr>
              <a:t> &lt; k, the 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baseline="30000" dirty="0" err="1">
                <a:latin typeface="Arial" charset="0"/>
              </a:rPr>
              <a:t>th</a:t>
            </a:r>
            <a:r>
              <a:rPr lang="en-US" sz="2400" dirty="0">
                <a:latin typeface="Arial" charset="0"/>
              </a:rPr>
              <a:t> smallest element in A[L..R] must be in A[L ..k-1]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dirty="0">
                <a:latin typeface="Arial" charset="0"/>
              </a:rPr>
              <a:t>Case 3: 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dirty="0">
                <a:latin typeface="Arial" charset="0"/>
              </a:rPr>
              <a:t> &gt; k, the 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baseline="30000" dirty="0" err="1">
                <a:latin typeface="Arial" charset="0"/>
              </a:rPr>
              <a:t>th</a:t>
            </a:r>
            <a:r>
              <a:rPr lang="en-US" sz="2400" dirty="0">
                <a:latin typeface="Arial" charset="0"/>
              </a:rPr>
              <a:t> smallest element in A[L..R] must be in A[k+1 .. R]</a:t>
            </a:r>
          </a:p>
          <a:p>
            <a:pPr eaLnBrk="1" hangingPunct="1">
              <a:lnSpc>
                <a:spcPct val="80000"/>
              </a:lnSpc>
            </a:pPr>
            <a:r>
              <a:rPr lang="en-US" sz="2500" dirty="0">
                <a:latin typeface="Arial" charset="0"/>
              </a:rPr>
              <a:t>The algorithm is a divide &amp; conquer algorithm.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charset="0"/>
              </a:rPr>
              <a:t>A better solution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8044299-CE5D-4975-9CCC-7330EC4E2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charset="0"/>
              </a:rPr>
              <a:t>Select(A, L, R, </a:t>
            </a:r>
            <a:r>
              <a:rPr lang="en-US" sz="2800" dirty="0" err="1">
                <a:latin typeface="Arial" charset="0"/>
              </a:rPr>
              <a:t>i</a:t>
            </a:r>
            <a:r>
              <a:rPr lang="en-US" sz="2800" dirty="0">
                <a:latin typeface="Arial" charset="0"/>
              </a:rPr>
              <a:t>) // 1≤ </a:t>
            </a:r>
            <a:r>
              <a:rPr lang="en-US" sz="2800" dirty="0" err="1">
                <a:latin typeface="Arial" charset="0"/>
              </a:rPr>
              <a:t>i</a:t>
            </a:r>
            <a:r>
              <a:rPr lang="en-US" sz="2800" dirty="0">
                <a:latin typeface="Arial" charset="0"/>
              </a:rPr>
              <a:t> ≤R–L+1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4E1A84A-EAA8-474A-ACC4-594CCB33F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3776"/>
            <a:ext cx="8229600" cy="5483224"/>
          </a:xfrm>
        </p:spPr>
        <p:txBody>
          <a:bodyPr/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dirty="0">
                <a:latin typeface="Arial" charset="0"/>
              </a:rPr>
              <a:t>Select ( A, L, R, </a:t>
            </a:r>
            <a:r>
              <a:rPr lang="en-US" sz="1800" dirty="0" err="1">
                <a:latin typeface="Arial" charset="0"/>
              </a:rPr>
              <a:t>i</a:t>
            </a:r>
            <a:r>
              <a:rPr lang="en-US" sz="1800" dirty="0">
                <a:latin typeface="Arial" charset="0"/>
              </a:rPr>
              <a:t>)                                                   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dirty="0">
                <a:latin typeface="Arial" charset="0"/>
              </a:rPr>
              <a:t>{</a:t>
            </a:r>
            <a:endParaRPr lang="ar-JO" sz="1800" dirty="0">
              <a:latin typeface="Arial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ar-JO" sz="1800" b="1" dirty="0">
                <a:solidFill>
                  <a:srgbClr val="FF0000"/>
                </a:solidFill>
                <a:latin typeface="Arial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if (</a:t>
            </a:r>
            <a:r>
              <a:rPr lang="en-US" sz="1800" b="1" dirty="0" err="1">
                <a:solidFill>
                  <a:srgbClr val="FF0000"/>
                </a:solidFill>
                <a:latin typeface="Arial" charset="0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&gt;R || </a:t>
            </a:r>
            <a:r>
              <a:rPr lang="en-US" sz="1800" b="1" dirty="0" err="1">
                <a:solidFill>
                  <a:srgbClr val="FF0000"/>
                </a:solidFill>
                <a:latin typeface="Arial" charset="0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 &lt;L)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Arial" charset="0"/>
              </a:rPr>
              <a:t>        return -1;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b="1" dirty="0">
                <a:latin typeface="Arial" charset="0"/>
              </a:rPr>
              <a:t>  </a:t>
            </a:r>
            <a:r>
              <a:rPr lang="en-US" sz="1800" b="1" dirty="0">
                <a:solidFill>
                  <a:srgbClr val="7030A0"/>
                </a:solidFill>
                <a:latin typeface="Arial" charset="0"/>
              </a:rPr>
              <a:t>else if (</a:t>
            </a:r>
            <a:r>
              <a:rPr lang="en-US" sz="1800" dirty="0">
                <a:solidFill>
                  <a:srgbClr val="7030A0"/>
                </a:solidFill>
                <a:latin typeface="Arial" charset="0"/>
              </a:rPr>
              <a:t>L==R &amp;&amp; </a:t>
            </a:r>
            <a:r>
              <a:rPr lang="en-US" sz="1800" dirty="0" err="1">
                <a:solidFill>
                  <a:srgbClr val="7030A0"/>
                </a:solidFill>
                <a:latin typeface="Arial" charset="0"/>
              </a:rPr>
              <a:t>i</a:t>
            </a:r>
            <a:r>
              <a:rPr lang="en-US" sz="1800" dirty="0">
                <a:solidFill>
                  <a:srgbClr val="7030A0"/>
                </a:solidFill>
                <a:latin typeface="Arial" charset="0"/>
              </a:rPr>
              <a:t> ==R)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>
                <a:solidFill>
                  <a:srgbClr val="7030A0"/>
                </a:solidFill>
                <a:latin typeface="Arial" charset="0"/>
              </a:rPr>
              <a:t>       return A[L];</a:t>
            </a:r>
            <a:endParaRPr lang="en-US" sz="1800" dirty="0">
              <a:latin typeface="Arial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dirty="0">
                <a:solidFill>
                  <a:srgbClr val="00B0F0"/>
                </a:solidFill>
                <a:latin typeface="Arial" charset="0"/>
              </a:rPr>
              <a:t>   if(L&lt;R)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dirty="0">
                <a:solidFill>
                  <a:srgbClr val="00B0F0"/>
                </a:solidFill>
                <a:latin typeface="Arial" charset="0"/>
              </a:rPr>
              <a:t>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1800" dirty="0">
                <a:solidFill>
                  <a:srgbClr val="00B0F0"/>
                </a:solidFill>
                <a:latin typeface="Arial" charset="0"/>
              </a:rPr>
              <a:t> 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k = Partition(A, L, r);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	if (</a:t>
            </a:r>
            <a:r>
              <a:rPr lang="en-US" altLang="en-US" sz="1800" dirty="0" err="1">
                <a:solidFill>
                  <a:srgbClr val="00B0F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 == k)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	   return A[k];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	else if (</a:t>
            </a:r>
            <a:r>
              <a:rPr lang="en-US" altLang="en-US" sz="1800" dirty="0" err="1">
                <a:solidFill>
                  <a:srgbClr val="00B0F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 &lt; k)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	Select (A, L, k-1, </a:t>
            </a:r>
            <a:r>
              <a:rPr lang="en-US" altLang="en-US" sz="1800" dirty="0" err="1">
                <a:solidFill>
                  <a:srgbClr val="00B0F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 else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Select(A, k+1, R, </a:t>
            </a:r>
            <a:r>
              <a:rPr lang="en-US" altLang="en-US" sz="1800" dirty="0" err="1">
                <a:solidFill>
                  <a:srgbClr val="00B0F0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</a:rPr>
              <a:t>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500" b="1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B37A49-B4B7-438F-8304-DBA8B4113DF2}"/>
              </a:ext>
            </a:extLst>
          </p:cNvPr>
          <p:cNvSpPr/>
          <p:nvPr/>
        </p:nvSpPr>
        <p:spPr>
          <a:xfrm>
            <a:off x="4876800" y="1676400"/>
            <a:ext cx="34290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The function select finds the </a:t>
            </a:r>
            <a:r>
              <a:rPr lang="en-US" sz="2400" dirty="0" err="1"/>
              <a:t>i</a:t>
            </a:r>
            <a:r>
              <a:rPr lang="en-US" sz="2400" baseline="-25000" dirty="0" err="1"/>
              <a:t>th</a:t>
            </a:r>
            <a:r>
              <a:rPr lang="en-US" sz="2400" dirty="0"/>
              <a:t> smallest element, assuming that the array begins with the cell #1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295400"/>
            <a:ext cx="8001000" cy="4724400"/>
          </a:xfrm>
        </p:spPr>
        <p:txBody>
          <a:bodyPr>
            <a:normAutofit fontScale="77500" lnSpcReduction="20000"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endParaRPr lang="en-US" sz="2000" b="1" dirty="0">
              <a:latin typeface="Arial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2000" b="1" dirty="0">
                <a:latin typeface="Arial" charset="0"/>
              </a:rPr>
              <a:t>Select ( A, L, R, </a:t>
            </a:r>
            <a:r>
              <a:rPr lang="en-US" sz="2000" b="1" dirty="0" err="1">
                <a:latin typeface="Arial" charset="0"/>
              </a:rPr>
              <a:t>i</a:t>
            </a:r>
            <a:r>
              <a:rPr lang="en-US" sz="2000" b="1" dirty="0">
                <a:latin typeface="Arial" charset="0"/>
              </a:rPr>
              <a:t>)                                                   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2000" b="1" dirty="0">
                <a:latin typeface="Arial" charset="0"/>
              </a:rPr>
              <a:t>{`</a:t>
            </a:r>
            <a:endParaRPr lang="ar-SA" sz="2000" b="1" dirty="0">
              <a:latin typeface="Arial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ar-SA" sz="2000" b="1" dirty="0">
                <a:latin typeface="Arial" charset="0"/>
              </a:rPr>
              <a:t>    </a:t>
            </a:r>
            <a:r>
              <a:rPr lang="en-US" sz="2000" b="1" dirty="0">
                <a:latin typeface="Arial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if (i-1&gt;R || i-1&lt;L)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        return -1;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>
                <a:latin typeface="Arial" charset="0"/>
              </a:rPr>
              <a:t>     </a:t>
            </a:r>
            <a:r>
              <a:rPr lang="en-US" sz="2000" b="1" dirty="0">
                <a:solidFill>
                  <a:srgbClr val="7030A0"/>
                </a:solidFill>
                <a:latin typeface="Arial" charset="0"/>
              </a:rPr>
              <a:t>else if (</a:t>
            </a:r>
            <a:r>
              <a:rPr lang="en-US" sz="2000" dirty="0">
                <a:solidFill>
                  <a:srgbClr val="7030A0"/>
                </a:solidFill>
                <a:latin typeface="Arial" charset="0"/>
              </a:rPr>
              <a:t>L==R &amp;&amp;i-1==R)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7030A0"/>
                </a:solidFill>
                <a:latin typeface="Arial" charset="0"/>
              </a:rPr>
              <a:t>       return A[L];</a:t>
            </a:r>
            <a:endParaRPr lang="en-US" sz="2000" b="1" dirty="0">
              <a:solidFill>
                <a:srgbClr val="7030A0"/>
              </a:solidFill>
              <a:latin typeface="Arial" charset="0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None/>
              <a:defRPr/>
            </a:pPr>
            <a:r>
              <a:rPr lang="en-US" sz="2000" b="1" dirty="0">
                <a:latin typeface="Arial" charset="0"/>
              </a:rPr>
              <a:t>    </a:t>
            </a:r>
            <a:r>
              <a:rPr lang="en-US" sz="2000" b="1" dirty="0">
                <a:solidFill>
                  <a:srgbClr val="00B0F0"/>
                </a:solidFill>
                <a:latin typeface="Arial" charset="0"/>
              </a:rPr>
              <a:t>else</a:t>
            </a:r>
            <a:r>
              <a:rPr lang="en-US" sz="2000" b="1" dirty="0">
                <a:latin typeface="Arial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if (L&lt;R)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    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k =random- Partition(A, L, R);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if (</a:t>
            </a:r>
            <a:r>
              <a:rPr lang="en-US" sz="2000" dirty="0" err="1">
                <a:solidFill>
                  <a:srgbClr val="00B0F0"/>
                </a:solidFill>
                <a:latin typeface="Arial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 -1 == k)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   </a:t>
            </a:r>
            <a:r>
              <a:rPr lang="en-US" sz="2000" b="1" dirty="0">
                <a:solidFill>
                  <a:srgbClr val="00B0F0"/>
                </a:solidFill>
                <a:latin typeface="Arial" charset="0"/>
              </a:rPr>
              <a:t>return 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A[k];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else if (</a:t>
            </a:r>
            <a:r>
              <a:rPr lang="en-US" sz="2000" dirty="0" err="1">
                <a:solidFill>
                  <a:srgbClr val="00B0F0"/>
                </a:solidFill>
                <a:latin typeface="Arial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 -1 &lt; k)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   return    Select (A, L, k-1, </a:t>
            </a:r>
            <a:r>
              <a:rPr lang="en-US" sz="2000" dirty="0" err="1">
                <a:solidFill>
                  <a:srgbClr val="00B0F0"/>
                </a:solidFill>
                <a:latin typeface="Arial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	 else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         return    Select(A, k+1, R, </a:t>
            </a:r>
            <a:r>
              <a:rPr lang="en-US" sz="2000" dirty="0" err="1">
                <a:solidFill>
                  <a:srgbClr val="00B0F0"/>
                </a:solidFill>
                <a:latin typeface="Arial" charset="0"/>
              </a:rPr>
              <a:t>i</a:t>
            </a:r>
            <a:r>
              <a:rPr lang="en-US" sz="2000" dirty="0">
                <a:solidFill>
                  <a:srgbClr val="00B0F0"/>
                </a:solidFill>
                <a:latin typeface="Arial" charset="0"/>
              </a:rPr>
              <a:t>)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00B0F0"/>
                </a:solidFill>
                <a:latin typeface="Arial" charset="0"/>
              </a:rPr>
              <a:t>      }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b="1" dirty="0">
                <a:latin typeface="Arial" charset="0"/>
              </a:rPr>
              <a:t>}</a:t>
            </a:r>
          </a:p>
          <a:p>
            <a:pPr marL="109728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500" dirty="0">
                <a:latin typeface="Arial" charset="0"/>
              </a:rPr>
              <a:t> the best case? What is the worst case?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500" dirty="0">
                <a:latin typeface="Arial" charset="0"/>
              </a:rPr>
              <a:t>What is the running time of the two cases?  </a:t>
            </a: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304801"/>
            <a:ext cx="80010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charset="0"/>
              </a:rPr>
              <a:t>Select(A, L, R, </a:t>
            </a:r>
            <a:r>
              <a:rPr lang="en-US" dirty="0" err="1">
                <a:latin typeface="Arial" charset="0"/>
              </a:rPr>
              <a:t>i</a:t>
            </a:r>
            <a:r>
              <a:rPr lang="en-US" dirty="0">
                <a:latin typeface="Arial" charset="0"/>
              </a:rPr>
              <a:t>) // 1≤ </a:t>
            </a:r>
            <a:r>
              <a:rPr lang="en-US" dirty="0" err="1">
                <a:latin typeface="Arial" charset="0"/>
              </a:rPr>
              <a:t>i</a:t>
            </a:r>
            <a:r>
              <a:rPr lang="en-US" dirty="0">
                <a:latin typeface="Arial" charset="0"/>
              </a:rPr>
              <a:t> ≤R–L+1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BFB83C-D471-4B68-877D-FA650FB86CFE}"/>
              </a:ext>
            </a:extLst>
          </p:cNvPr>
          <p:cNvSpPr/>
          <p:nvPr/>
        </p:nvSpPr>
        <p:spPr>
          <a:xfrm>
            <a:off x="4876800" y="1676400"/>
            <a:ext cx="34290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/>
              <a:t>The function select finds the </a:t>
            </a:r>
            <a:r>
              <a:rPr lang="en-US" sz="2400" dirty="0" err="1"/>
              <a:t>i</a:t>
            </a:r>
            <a:r>
              <a:rPr lang="en-US" sz="2400" baseline="-25000" dirty="0" err="1"/>
              <a:t>th</a:t>
            </a:r>
            <a:r>
              <a:rPr lang="en-US" sz="2400" dirty="0"/>
              <a:t> smallest element, assuming that the array begins with the cell #zero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C9500-DBF5-4520-8AA4-E2A131461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a best case scenario.</a:t>
            </a:r>
          </a:p>
          <a:p>
            <a:r>
              <a:rPr lang="en-US" dirty="0"/>
              <a:t>What is the time complexity (big O) for the best case?</a:t>
            </a:r>
          </a:p>
          <a:p>
            <a:pPr marL="109537" indent="0">
              <a:buNone/>
            </a:pPr>
            <a:endParaRPr lang="en-US" dirty="0"/>
          </a:p>
          <a:p>
            <a:r>
              <a:rPr lang="en-US" dirty="0"/>
              <a:t>Give a worst case scenario.</a:t>
            </a:r>
          </a:p>
          <a:p>
            <a:r>
              <a:rPr lang="en-US" dirty="0"/>
              <a:t>What is the time complexity (big O) for the worst case?</a:t>
            </a:r>
          </a:p>
          <a:p>
            <a:pPr marL="109537" indent="0">
              <a:buNone/>
            </a:pPr>
            <a:endParaRPr lang="en-US" dirty="0"/>
          </a:p>
          <a:p>
            <a:pPr marL="109537" indent="0">
              <a:buNone/>
            </a:pPr>
            <a:endParaRPr lang="en-US" dirty="0"/>
          </a:p>
          <a:p>
            <a:pPr marL="109537" indent="0">
              <a:buNone/>
            </a:pPr>
            <a:endParaRPr lang="en-US" dirty="0"/>
          </a:p>
          <a:p>
            <a:pPr marL="109537" indent="0">
              <a:buNone/>
            </a:pPr>
            <a:endParaRPr lang="en-US" dirty="0"/>
          </a:p>
          <a:p>
            <a:pPr marL="109537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ED892-03ED-45C5-B374-77BBDD34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1583216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3612</TotalTime>
  <Words>697</Words>
  <Application>Microsoft Office PowerPoint</Application>
  <PresentationFormat>On-screen Show (4:3)</PresentationFormat>
  <Paragraphs>71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Lucida Sans Unicode</vt:lpstr>
      <vt:lpstr>Verdana</vt:lpstr>
      <vt:lpstr>Wingdings</vt:lpstr>
      <vt:lpstr>Wingdings 2</vt:lpstr>
      <vt:lpstr>Wingdings 3</vt:lpstr>
      <vt:lpstr>Concourse</vt:lpstr>
      <vt:lpstr>The Selection Problem</vt:lpstr>
      <vt:lpstr>The Selection Problem</vt:lpstr>
      <vt:lpstr>A better solution</vt:lpstr>
      <vt:lpstr>Select(A, L, R, i) // 1≤ i ≤R–L+1</vt:lpstr>
      <vt:lpstr>Select(A, L, R, i) // 1≤ i ≤R–L+1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Quicksort</dc:title>
  <dc:creator>home</dc:creator>
  <cp:lastModifiedBy>mai mimo</cp:lastModifiedBy>
  <cp:revision>145</cp:revision>
  <dcterms:created xsi:type="dcterms:W3CDTF">2004-02-06T12:14:21Z</dcterms:created>
  <dcterms:modified xsi:type="dcterms:W3CDTF">2026-03-25T19:42:01Z</dcterms:modified>
</cp:coreProperties>
</file>